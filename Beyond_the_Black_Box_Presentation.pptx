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888B8229-819C-A7BD-2969-2FFDCC20DBB8}">
          <p14:sldIdLst>
            <p14:sldId id="256"/>
            <p14:sldId id="257"/>
            <p14:sldId id="258"/>
            <p14:sldId id="259"/>
          </p14:sldIdLst>
        </p14:section>
        <p14:section name="1 - Pourquoi" id="{3AFDBB0C-EAA4-EDAE-9E44-80328BC88B5C}">
          <p14:sldIdLst>
            <p14:sldId id="260"/>
            <p14:sldId id="261"/>
            <p14:sldId id="263"/>
            <p14:sldId id="262"/>
          </p14:sldIdLst>
        </p14:section>
        <p14:section name="2 - L'essentiel" id="{0D2EC4A1-DB58-C98E-48D9-32CF35B92238}">
          <p14:sldIdLst>
            <p14:sldId id="264"/>
            <p14:sldId id="265"/>
            <p14:sldId id="266"/>
            <p14:sldId id="268"/>
            <p14:sldId id="267"/>
            <p14:sldId id="269"/>
            <p14:sldId id="270"/>
          </p14:sldIdLst>
        </p14:section>
        <p14:section name="3 - TP" id="{983E52D5-C074-1469-A9C7-C3A90566B084}">
          <p14:sldIdLst>
            <p14:sldId id="271"/>
            <p14:sldId id="272"/>
            <p14:sldId id="273"/>
            <p14:sldId id="274"/>
            <p14:sldId id="275"/>
          </p14:sldIdLst>
        </p14:section>
        <p14:section name="4 - Demo" id="{0E1D71DD-4242-FD40-DFEC-FE92EAC5406C}">
          <p14:sldIdLst>
            <p14:sldId id="276"/>
            <p14:sldId id="277"/>
            <p14:sldId id="278"/>
          </p14:sldIdLst>
        </p14:section>
        <p14:section name="Conclusion" id="{2D9801DF-4027-7610-13B8-4648310735FD}">
          <p14:sldIdLst>
            <p14:sldId id="279"/>
            <p14:sldId id="280"/>
            <p14:sldId id="281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80"/>
    <p:restoredTop sz="94610"/>
  </p:normalViewPr>
  <p:slideViewPr>
    <p:cSldViewPr snapToGrid="0" snapToObjects="1">
      <p:cViewPr>
        <p:scale>
          <a:sx n="60" d="100"/>
          <a:sy n="60" d="100"/>
        </p:scale>
        <p:origin x="40" y="1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715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Accueil. Remercier le Microsoft User Group Gabon.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minute maximum. Ne pas lire les cartes mot a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theme a voix haute, puis decoder les trois expressions. 45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contrat de la session. 30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destination avant la route. 45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encadres dans l'ordre. Insister : l'API n'est pas une boite magique, c'est du HTTP et du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Attention : Groq avec un q, pas Grok. Deux choses differentes.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minute quinze maximum. Nommer chaque etape par ce qu'elle apporte.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Quarante-cinq secondes. Le schema fait le travail : montrer la pile, le N, puis la boucle verte.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minute quinze. C'est la slide que la salle photographiera.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bandes dans l'ordre. Ne pas parler d'architecture : tokenisation, prediction, boucle.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Preciser : avec Groq, vous ne telechargez rien du tout. Vous appelez.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vers le TP : on arrete la theorie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cette slide a l'ecran pendant qu'on ouvre VS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Repondre frontalement : vous n'avez pas les poids, vous avez une cle. Et dire que gpt-oss est sur Hugging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reference. La laisser affichee pendant le TP si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slide qui transforme cinq exercices en une competence. Prendre 90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Reserve sur le calcul question 3 : illustration de la formule, pas une liquidation juridique.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le sommet de l'expose. Prendre le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six points en 90 secondes. Ne pas tout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Aller vite. C'est une slide a photographier, pas a commenter.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affichee pendant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affichee pendant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7153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76A8"/>
                </a:solidFill>
              </a:rPr>
              <a:t>Beyond the Black Box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F4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E76A8"/>
                </a:solidFill>
              </a:rPr>
              <a:t>Beyond the Black Box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ite-ext"/>
          <p:cNvSpPr/>
          <p:nvPr/>
        </p:nvSpPr>
        <p:spPr>
          <a:xfrm>
            <a:off x="8412480" y="1463040"/>
            <a:ext cx="2834640" cy="28346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7E76A8"/>
            </a:solidFill>
            <a:prstDash val="solid"/>
          </a:ln>
        </p:spPr>
      </p:sp>
      <p:sp>
        <p:nvSpPr>
          <p:cNvPr id="3" name="boite-int"/>
          <p:cNvSpPr/>
          <p:nvPr/>
        </p:nvSpPr>
        <p:spPr>
          <a:xfrm>
            <a:off x="8705088" y="1755648"/>
            <a:ext cx="2249424" cy="2249424"/>
          </a:xfrm>
          <a:prstGeom prst="rect">
            <a:avLst/>
          </a:prstGeom>
          <a:solidFill>
            <a:srgbClr val="000000">
              <a:alpha val="22000"/>
            </a:srgbClr>
          </a:solidFill>
          <a:ln w="19050">
            <a:solidFill>
              <a:srgbClr val="E07A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05088" y="1755648"/>
            <a:ext cx="2249424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E07A3F"/>
                </a:solidFill>
              </a:rPr>
              <a:t>?</a:t>
            </a:r>
            <a:endParaRPr lang="en-US" sz="7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310640"/>
            <a:ext cx="7552944" cy="2316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Black Box </a:t>
            </a:r>
            <a:r>
              <a:rPr lang="fr-SN" sz="4400" dirty="0">
                <a:solidFill>
                  <a:srgbClr val="B8504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Guide du développeur pour intégrer un LLM open-</a:t>
            </a:r>
            <a:r>
              <a:rPr lang="fr-SN" sz="4400" dirty="0" err="1">
                <a:solidFill>
                  <a:srgbClr val="B8504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weight</a:t>
            </a:r>
            <a:r>
              <a:rPr lang="fr-SN" sz="4400" dirty="0">
                <a:solidFill>
                  <a:srgbClr val="B8504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via API</a:t>
            </a:r>
            <a:endParaRPr lang="fr-SN" sz="4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66928" y="5760720"/>
            <a:ext cx="282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8EC"/>
                </a:solidFill>
              </a:rPr>
              <a:t>Anna Roxanne ONDO MINKO - Speaker</a:t>
            </a:r>
            <a:endParaRPr lang="en-US" sz="1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D97E289-63D9-6835-90AF-C6CE805D8ED3}"/>
              </a:ext>
            </a:extLst>
          </p:cNvPr>
          <p:cNvSpPr txBox="1"/>
          <p:nvPr/>
        </p:nvSpPr>
        <p:spPr>
          <a:xfrm>
            <a:off x="7964424" y="6238240"/>
            <a:ext cx="4137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CFC8EC"/>
                </a:solidFill>
              </a:rPr>
              <a:t>Hacktoberfest</a:t>
            </a:r>
            <a:r>
              <a:rPr lang="en-US" sz="1400" dirty="0">
                <a:solidFill>
                  <a:srgbClr val="CFC8EC"/>
                </a:solidFill>
              </a:rPr>
              <a:t> Hack Day Libreville  ·  24 </a:t>
            </a:r>
            <a:r>
              <a:rPr lang="en-US" sz="1400" dirty="0" err="1">
                <a:solidFill>
                  <a:srgbClr val="CFC8EC"/>
                </a:solidFill>
              </a:rPr>
              <a:t>octobre</a:t>
            </a:r>
            <a:r>
              <a:rPr lang="en-US" sz="1400" dirty="0">
                <a:solidFill>
                  <a:srgbClr val="CFC8EC"/>
                </a:solidFill>
              </a:rPr>
              <a:t>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Anna ONDO - Data Scientist &amp; Data Engineer</a:t>
            </a:r>
            <a:endParaRPr lang="en-US" sz="3200" dirty="0"/>
          </a:p>
        </p:txBody>
      </p:sp>
      <p:sp>
        <p:nvSpPr>
          <p:cNvPr id="3" name="bio-0"/>
          <p:cNvSpPr/>
          <p:nvPr/>
        </p:nvSpPr>
        <p:spPr>
          <a:xfrm>
            <a:off x="566928" y="173736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4" name="bio-ic-0"/>
          <p:cNvSpPr/>
          <p:nvPr/>
        </p:nvSpPr>
        <p:spPr>
          <a:xfrm>
            <a:off x="841248" y="1993392"/>
            <a:ext cx="530352" cy="530352"/>
          </a:xfrm>
          <a:prstGeom prst="ellipse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pic>
        <p:nvPicPr>
          <p:cNvPr id="5" name="Image 0" descr="/home/claude/talk/icons/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40" y="2131284"/>
            <a:ext cx="254569" cy="2545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17904" y="19933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Formation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27432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C3659"/>
                </a:solidFill>
              </a:rPr>
              <a:t>Licences en mathématiques, puis en Mathématiques-Cryptographie-Sécurité à l’Université Cheikh Anta Diop de Dakar. </a:t>
            </a:r>
            <a:br>
              <a:rPr lang="en-US" sz="1400" dirty="0">
                <a:solidFill>
                  <a:srgbClr val="3C3659"/>
                </a:solidFill>
              </a:rPr>
            </a:br>
            <a:r>
              <a:rPr lang="en-US" sz="1400" dirty="0">
                <a:solidFill>
                  <a:srgbClr val="3C3659"/>
                </a:solidFill>
              </a:rPr>
              <a:t>Master spécialisé en Big Data à L’institut Africain des Sciences Mathématiques du Sénégal (AIMS Sénégal).</a:t>
            </a:r>
            <a:endParaRPr lang="en-US" sz="1400" dirty="0"/>
          </a:p>
        </p:txBody>
      </p:sp>
      <p:sp>
        <p:nvSpPr>
          <p:cNvPr id="8" name="bio-1"/>
          <p:cNvSpPr/>
          <p:nvPr/>
        </p:nvSpPr>
        <p:spPr>
          <a:xfrm>
            <a:off x="4270248" y="173736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9" name="bio-ic-1"/>
          <p:cNvSpPr/>
          <p:nvPr/>
        </p:nvSpPr>
        <p:spPr>
          <a:xfrm>
            <a:off x="4544568" y="1993392"/>
            <a:ext cx="530352" cy="53035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0" name="Image 1" descr="/home/claude/talk/icons/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460" y="2131284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21224" y="19933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Recherche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544568" y="27432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fr-SN" sz="1400" dirty="0"/>
              <a:t>Vers une IA médicale de confiance : segmentation des tumeurs cérébrales et interprétabilité du modèle par une architecture Transformer-GNN</a:t>
            </a:r>
            <a:endParaRPr lang="en-US" sz="1400" dirty="0"/>
          </a:p>
        </p:txBody>
      </p:sp>
      <p:sp>
        <p:nvSpPr>
          <p:cNvPr id="13" name="bio-2"/>
          <p:cNvSpPr/>
          <p:nvPr/>
        </p:nvSpPr>
        <p:spPr>
          <a:xfrm>
            <a:off x="7973568" y="1737360"/>
            <a:ext cx="34290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4" name="bio-ic-2"/>
          <p:cNvSpPr/>
          <p:nvPr/>
        </p:nvSpPr>
        <p:spPr>
          <a:xfrm>
            <a:off x="8247888" y="1993392"/>
            <a:ext cx="530352" cy="530352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pic>
        <p:nvPicPr>
          <p:cNvPr id="15" name="Image 2" descr="/home/claude/talk/icons/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780" y="2131284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924544" y="199339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Aujourd'hui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47888" y="274320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C3659"/>
                </a:solidFill>
              </a:rPr>
              <a:t>Agent à l'ANINF, l'Agence Nationale des Infrastructures Numériques et des Fréquences.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thème de cette session</a:t>
            </a:r>
            <a:endParaRPr lang="en-US" sz="3200" dirty="0"/>
          </a:p>
        </p:txBody>
      </p:sp>
      <p:sp>
        <p:nvSpPr>
          <p:cNvPr id="3" name="enonce"/>
          <p:cNvSpPr/>
          <p:nvPr/>
        </p:nvSpPr>
        <p:spPr>
          <a:xfrm>
            <a:off x="566928" y="1188720"/>
            <a:ext cx="11027664" cy="713232"/>
          </a:xfrm>
          <a:prstGeom prst="roundRect">
            <a:avLst>
              <a:gd name="adj" fmla="val 12821"/>
            </a:avLst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188720"/>
            <a:ext cx="10296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C95D"/>
                </a:solidFill>
              </a:rPr>
              <a:t>« Beyond the Black Box »</a:t>
            </a:r>
            <a:r>
              <a:rPr lang="en-US" sz="1800" dirty="0">
                <a:solidFill>
                  <a:srgbClr val="FFFFFF"/>
                </a:solidFill>
              </a:rPr>
              <a:t>  Guide du développeur pour intégrer un LLM open-weight via API</a:t>
            </a:r>
            <a:endParaRPr lang="en-US" sz="1800" dirty="0"/>
          </a:p>
        </p:txBody>
      </p:sp>
      <p:sp>
        <p:nvSpPr>
          <p:cNvPr id="5" name="chapo"/>
          <p:cNvSpPr txBox="1"/>
          <p:nvPr/>
        </p:nvSpPr>
        <p:spPr>
          <a:xfrm>
            <a:off x="566928" y="2011680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chemeClr val="tx1"/>
                </a:solidFill>
              </a:rPr>
              <a:t>Quatre expressions, et chacune est un moment de cet exposé.</a:t>
            </a:r>
            <a:endParaRPr lang="en-US" sz="1550" dirty="0"/>
          </a:p>
        </p:txBody>
      </p:sp>
      <p:sp>
        <p:nvSpPr>
          <p:cNvPr id="6" name="mot-0"/>
          <p:cNvSpPr/>
          <p:nvPr/>
        </p:nvSpPr>
        <p:spPr>
          <a:xfrm>
            <a:off x="566928" y="2395728"/>
            <a:ext cx="2633472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254203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6B5CA5"/>
                </a:solidFill>
              </a:rPr>
              <a:t>« un LLM »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127248"/>
            <a:ext cx="22677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C3659"/>
                </a:solidFill>
              </a:rPr>
              <a:t>Un réseau de neurones entraîné sur d'énormes quantités de texte, qui prédit le morceau suivant.</a:t>
            </a:r>
            <a:endParaRPr lang="en-US" sz="1200" dirty="0"/>
          </a:p>
        </p:txBody>
      </p:sp>
      <p:sp>
        <p:nvSpPr>
          <p:cNvPr id="9" name="mot-ou-0"/>
          <p:cNvSpPr/>
          <p:nvPr/>
        </p:nvSpPr>
        <p:spPr>
          <a:xfrm>
            <a:off x="768096" y="4041648"/>
            <a:ext cx="2231136" cy="329184"/>
          </a:xfrm>
          <a:prstGeom prst="roundRect">
            <a:avLst>
              <a:gd name="adj" fmla="val 19444"/>
            </a:avLst>
          </a:prstGeom>
          <a:solidFill>
            <a:srgbClr val="F4F2FA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4041648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30" dirty="0">
                <a:solidFill>
                  <a:srgbClr val="6B5CA5"/>
                </a:solidFill>
              </a:rPr>
              <a:t>COMPRENDRE</a:t>
            </a:r>
            <a:endParaRPr lang="en-US" sz="950" dirty="0"/>
          </a:p>
        </p:txBody>
      </p:sp>
      <p:sp>
        <p:nvSpPr>
          <p:cNvPr id="11" name="mot-1"/>
          <p:cNvSpPr/>
          <p:nvPr/>
        </p:nvSpPr>
        <p:spPr>
          <a:xfrm>
            <a:off x="3364992" y="2395728"/>
            <a:ext cx="2633472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54203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A9D8F"/>
                </a:solidFill>
              </a:rPr>
              <a:t>« open-weight »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127248"/>
            <a:ext cx="22677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C3659"/>
                </a:solidFill>
              </a:rPr>
              <a:t>Ses poids sont publics. Vous pouvez changer d'hébergeur, ou le faire tourner chez vous.</a:t>
            </a:r>
            <a:endParaRPr lang="en-US" sz="1200" dirty="0"/>
          </a:p>
        </p:txBody>
      </p:sp>
      <p:sp>
        <p:nvSpPr>
          <p:cNvPr id="14" name="mot-ou-1"/>
          <p:cNvSpPr/>
          <p:nvPr/>
        </p:nvSpPr>
        <p:spPr>
          <a:xfrm>
            <a:off x="3566160" y="4041648"/>
            <a:ext cx="2231136" cy="329184"/>
          </a:xfrm>
          <a:prstGeom prst="roundRect">
            <a:avLst>
              <a:gd name="adj" fmla="val 19444"/>
            </a:avLst>
          </a:prstGeom>
          <a:solidFill>
            <a:srgbClr val="F4F2FA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66160" y="4041648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30" dirty="0">
                <a:solidFill>
                  <a:srgbClr val="2A9D8F"/>
                </a:solidFill>
              </a:rPr>
              <a:t>COMPRENDRE</a:t>
            </a:r>
            <a:endParaRPr lang="en-US" sz="950" dirty="0"/>
          </a:p>
        </p:txBody>
      </p:sp>
      <p:sp>
        <p:nvSpPr>
          <p:cNvPr id="16" name="mot-2"/>
          <p:cNvSpPr/>
          <p:nvPr/>
        </p:nvSpPr>
        <p:spPr>
          <a:xfrm>
            <a:off x="6163056" y="2395728"/>
            <a:ext cx="2633472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64224" y="254203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7E76A8"/>
                </a:solidFill>
              </a:rPr>
              <a:t>« via API »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3127248"/>
            <a:ext cx="22677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C3659"/>
                </a:solidFill>
              </a:rPr>
              <a:t>On n'installe rien. On appelle par Internet un modèle hébergé ailleurs, avec une clé.</a:t>
            </a:r>
            <a:endParaRPr lang="en-US" sz="1200" dirty="0"/>
          </a:p>
        </p:txBody>
      </p:sp>
      <p:sp>
        <p:nvSpPr>
          <p:cNvPr id="19" name="mot-ou-2"/>
          <p:cNvSpPr/>
          <p:nvPr/>
        </p:nvSpPr>
        <p:spPr>
          <a:xfrm>
            <a:off x="6364224" y="4041648"/>
            <a:ext cx="2231136" cy="329184"/>
          </a:xfrm>
          <a:prstGeom prst="roundRect">
            <a:avLst>
              <a:gd name="adj" fmla="val 19444"/>
            </a:avLst>
          </a:prstGeom>
          <a:solidFill>
            <a:srgbClr val="F4F2FA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4224" y="4041648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30" dirty="0">
                <a:solidFill>
                  <a:srgbClr val="7E76A8"/>
                </a:solidFill>
              </a:rPr>
              <a:t>COMPRENDRE, puis le TP</a:t>
            </a:r>
            <a:endParaRPr lang="en-US" sz="950" dirty="0"/>
          </a:p>
        </p:txBody>
      </p:sp>
      <p:sp>
        <p:nvSpPr>
          <p:cNvPr id="21" name="mot-3"/>
          <p:cNvSpPr/>
          <p:nvPr/>
        </p:nvSpPr>
        <p:spPr>
          <a:xfrm>
            <a:off x="8961120" y="2395728"/>
            <a:ext cx="2633472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62288" y="2542032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07A3F"/>
                </a:solidFill>
              </a:rPr>
              <a:t>« Beyond the Black Box »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62288" y="3127248"/>
            <a:ext cx="226771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C3659"/>
                </a:solidFill>
              </a:rPr>
              <a:t>Savoir d'où vient la réponse, et reconnaître quand le modèle invente.</a:t>
            </a:r>
            <a:endParaRPr lang="en-US" sz="1200" dirty="0"/>
          </a:p>
        </p:txBody>
      </p:sp>
      <p:sp>
        <p:nvSpPr>
          <p:cNvPr id="24" name="mot-ou-3"/>
          <p:cNvSpPr/>
          <p:nvPr/>
        </p:nvSpPr>
        <p:spPr>
          <a:xfrm>
            <a:off x="9162288" y="4041648"/>
            <a:ext cx="2231136" cy="329184"/>
          </a:xfrm>
          <a:prstGeom prst="roundRect">
            <a:avLst>
              <a:gd name="adj" fmla="val 19444"/>
            </a:avLst>
          </a:prstGeom>
          <a:solidFill>
            <a:srgbClr val="F4F2FA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62288" y="4041648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30" dirty="0">
                <a:solidFill>
                  <a:srgbClr val="E07A3F"/>
                </a:solidFill>
              </a:rPr>
              <a:t>LA DÉMONSTRATION</a:t>
            </a:r>
            <a:endParaRPr lang="en-US" sz="95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Dans 30 minutes, vous saurez faire trois choses</a:t>
            </a:r>
            <a:endParaRPr lang="en-US" sz="3200" dirty="0"/>
          </a:p>
        </p:txBody>
      </p:sp>
      <p:sp>
        <p:nvSpPr>
          <p:cNvPr id="3" name="obj-0"/>
          <p:cNvSpPr/>
          <p:nvPr/>
        </p:nvSpPr>
        <p:spPr>
          <a:xfrm>
            <a:off x="566928" y="1572768"/>
            <a:ext cx="1102766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4" name="obj-ic-0"/>
          <p:cNvSpPr/>
          <p:nvPr/>
        </p:nvSpPr>
        <p:spPr>
          <a:xfrm>
            <a:off x="877824" y="1874520"/>
            <a:ext cx="585216" cy="585216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pic>
        <p:nvPicPr>
          <p:cNvPr id="5" name="Image 0" descr="/home/claude/talk/icons/o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980" y="2026676"/>
            <a:ext cx="280904" cy="2809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64208" y="1773936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Appeler un LLM depuis votre code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664208" y="221284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C3659"/>
                </a:solidFill>
              </a:rPr>
              <a:t>Créer une clé API, l'installer sans la perdre, envoyer votre première requête et lire la réponse.</a:t>
            </a:r>
            <a:endParaRPr lang="en-US" sz="1450" dirty="0"/>
          </a:p>
        </p:txBody>
      </p:sp>
      <p:sp>
        <p:nvSpPr>
          <p:cNvPr id="8" name="obj-1"/>
          <p:cNvSpPr/>
          <p:nvPr/>
        </p:nvSpPr>
        <p:spPr>
          <a:xfrm>
            <a:off x="566928" y="2907792"/>
            <a:ext cx="11027664" cy="1188720"/>
          </a:xfrm>
          <a:prstGeom prst="roundRect">
            <a:avLst>
              <a:gd name="adj" fmla="val 7692"/>
            </a:avLst>
          </a:prstGeom>
          <a:solidFill>
            <a:srgbClr val="F4F2FA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9" name="obj-ic-1"/>
          <p:cNvSpPr/>
          <p:nvPr/>
        </p:nvSpPr>
        <p:spPr>
          <a:xfrm>
            <a:off x="877824" y="3209544"/>
            <a:ext cx="585216" cy="5852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0" name="Image 1" descr="/home/claude/talk/icons/o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980" y="3361700"/>
            <a:ext cx="280904" cy="28090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64208" y="3108960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Construire une petite application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1664208" y="35478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C3659"/>
                </a:solidFill>
              </a:rPr>
              <a:t>Brancher un document, poser des questions dessus, afficher la </a:t>
            </a:r>
            <a:r>
              <a:rPr lang="en-US" sz="1450" dirty="0" err="1">
                <a:solidFill>
                  <a:srgbClr val="3C3659"/>
                </a:solidFill>
              </a:rPr>
              <a:t>réponse</a:t>
            </a:r>
            <a:r>
              <a:rPr lang="en-US" sz="1450" dirty="0">
                <a:solidFill>
                  <a:srgbClr val="3C3659"/>
                </a:solidFill>
              </a:rPr>
              <a:t> le tout en Python.</a:t>
            </a:r>
            <a:endParaRPr lang="en-US" sz="1450" dirty="0"/>
          </a:p>
        </p:txBody>
      </p:sp>
      <p:sp>
        <p:nvSpPr>
          <p:cNvPr id="13" name="obj-2"/>
          <p:cNvSpPr/>
          <p:nvPr/>
        </p:nvSpPr>
        <p:spPr>
          <a:xfrm>
            <a:off x="566928" y="4242816"/>
            <a:ext cx="1102766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4" name="obj-ic-2"/>
          <p:cNvSpPr/>
          <p:nvPr/>
        </p:nvSpPr>
        <p:spPr>
          <a:xfrm>
            <a:off x="877824" y="4544568"/>
            <a:ext cx="585216" cy="585216"/>
          </a:xfrm>
          <a:prstGeom prst="ellipse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pic>
        <p:nvPicPr>
          <p:cNvPr id="15" name="Image 2" descr="/home/claude/talk/icons/o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980" y="4696724"/>
            <a:ext cx="280904" cy="28090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64208" y="4443984"/>
            <a:ext cx="9509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SN" sz="2000" b="1" i="0" dirty="0">
                <a:effectLst/>
                <a:latin typeface="-apple-system-body"/>
              </a:rPr>
              <a:t>Vérifier plutôt que supposer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1664208" y="488289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C3659"/>
                </a:solidFill>
              </a:rPr>
              <a:t>Lui imposer une source, exiger les citations, et accepter qu'il réponde « je ne sais pas ».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07A3F"/>
                </a:solidFill>
              </a:rPr>
              <a:t>D'ABORD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24912"/>
            <a:ext cx="11027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va construire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0"/>
            <a:ext cx="9656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C8EC"/>
                </a:solidFill>
              </a:rPr>
              <a:t>Une application qui répond sur un document et qui dit quand elle ne sait pas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Voilà où on va</a:t>
            </a:r>
            <a:endParaRPr lang="en-US" sz="3200" dirty="0"/>
          </a:p>
        </p:txBody>
      </p:sp>
      <p:sp>
        <p:nvSpPr>
          <p:cNvPr id="3" name="chapo"/>
          <p:cNvSpPr txBox="1"/>
          <p:nvPr/>
        </p:nvSpPr>
        <p:spPr>
          <a:xfrm>
            <a:off x="566928" y="1225296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Un PDF déposé à gauche, une question à droite, une réponse qui cite son article.</a:t>
            </a:r>
            <a:endParaRPr lang="en-US" sz="1600" dirty="0"/>
          </a:p>
        </p:txBody>
      </p:sp>
      <p:sp>
        <p:nvSpPr>
          <p:cNvPr id="4" name="cadre-app"/>
          <p:cNvSpPr/>
          <p:nvPr/>
        </p:nvSpPr>
        <p:spPr>
          <a:xfrm>
            <a:off x="1737360" y="1591056"/>
            <a:ext cx="8686800" cy="3950208"/>
          </a:xfrm>
          <a:prstGeom prst="roundRect">
            <a:avLst>
              <a:gd name="adj" fmla="val 2315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pic>
        <p:nvPicPr>
          <p:cNvPr id="5" name="fig-app" descr="/home/claude/talk/fig_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664208"/>
            <a:ext cx="8503920" cy="3803904"/>
          </a:xfrm>
          <a:prstGeom prst="rect">
            <a:avLst/>
          </a:prstGeom>
        </p:spPr>
      </p:pic>
      <p:sp>
        <p:nvSpPr>
          <p:cNvPr id="6" name="banniere"/>
          <p:cNvSpPr/>
          <p:nvPr/>
        </p:nvSpPr>
        <p:spPr>
          <a:xfrm>
            <a:off x="566928" y="5669280"/>
            <a:ext cx="11027664" cy="566928"/>
          </a:xfrm>
          <a:prstGeom prst="roundRect">
            <a:avLst>
              <a:gd name="adj" fmla="val 16129"/>
            </a:avLst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32688" y="5669280"/>
            <a:ext cx="10296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Deux questions, deux comportements. </a:t>
            </a:r>
            <a:r>
              <a:rPr lang="en-US" sz="1500" b="1" dirty="0">
                <a:solidFill>
                  <a:srgbClr val="F4C95D"/>
                </a:solidFill>
              </a:rPr>
              <a:t>C'est la deuxième qui fait la différence.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API, concrètement</a:t>
            </a:r>
            <a:endParaRPr lang="en-US" sz="3200" dirty="0"/>
          </a:p>
        </p:txBody>
      </p:sp>
      <p:sp>
        <p:nvSpPr>
          <p:cNvPr id="4" name="cadre-api"/>
          <p:cNvSpPr/>
          <p:nvPr/>
        </p:nvSpPr>
        <p:spPr>
          <a:xfrm>
            <a:off x="941832" y="1371600"/>
            <a:ext cx="10277856" cy="4114800"/>
          </a:xfrm>
          <a:prstGeom prst="roundRect">
            <a:avLst>
              <a:gd name="adj" fmla="val 2387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pic>
        <p:nvPicPr>
          <p:cNvPr id="26" name="fig-api" descr="fig_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1444752"/>
            <a:ext cx="10058400" cy="3968496"/>
          </a:xfrm>
          <a:prstGeom prst="rect">
            <a:avLst/>
          </a:prstGeom>
        </p:spPr>
      </p:pic>
      <p:sp>
        <p:nvSpPr>
          <p:cNvPr id="6" name="banniere"/>
          <p:cNvSpPr/>
          <p:nvPr/>
        </p:nvSpPr>
        <p:spPr>
          <a:xfrm>
            <a:off x="566928" y="5596128"/>
            <a:ext cx="11027664" cy="512064"/>
          </a:xfrm>
          <a:prstGeom prst="roundRect">
            <a:avLst>
              <a:gd name="adj" fmla="val 15152"/>
            </a:avLst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32688" y="5596128"/>
            <a:ext cx="10296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50">
                <a:solidFill>
                  <a:srgbClr val="FFFFFF"/>
                </a:solidFill>
                <a:latin typeface="Calibri"/>
              </a:rPr>
              <a:t>Sans API, il faudrait installer et exécuter le modèle vous-même. </a:t>
            </a:r>
            <a:r>
              <a:rPr sz="1450" b="1">
                <a:solidFill>
                  <a:srgbClr val="F4C95D"/>
                </a:solidFill>
                <a:latin typeface="Calibri"/>
              </a:rPr>
              <a:t>Avec une API, vous utilisez un modèle hébergé, sans rien télécharger.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par une API, et pas sur votre machine ?</a:t>
            </a:r>
            <a:endParaRPr lang="en-US" sz="3200" dirty="0"/>
          </a:p>
        </p:txBody>
      </p:sp>
      <p:sp>
        <p:nvSpPr>
          <p:cNvPr id="3" name="cadre-pipe"/>
          <p:cNvSpPr/>
          <p:nvPr/>
        </p:nvSpPr>
        <p:spPr>
          <a:xfrm>
            <a:off x="566928" y="1371600"/>
            <a:ext cx="11027664" cy="2523744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pic>
        <p:nvPicPr>
          <p:cNvPr id="4" name="fig-pipe" descr="/home/claude/talk/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463040"/>
            <a:ext cx="10808208" cy="2258568"/>
          </a:xfrm>
          <a:prstGeom prst="rect">
            <a:avLst/>
          </a:prstGeom>
        </p:spPr>
      </p:pic>
      <p:sp>
        <p:nvSpPr>
          <p:cNvPr id="5" name="raison-0"/>
          <p:cNvSpPr/>
          <p:nvPr/>
        </p:nvSpPr>
        <p:spPr>
          <a:xfrm>
            <a:off x="566928" y="4041648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2245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4536"/>
                </a:solidFill>
              </a:rPr>
              <a:t>La taille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59028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3659"/>
                </a:solidFill>
              </a:rPr>
              <a:t>Un modèle utile pèse des dizaines de gigaoctets de poids. </a:t>
            </a:r>
            <a:r>
              <a:rPr lang="fr-SN" sz="1400" dirty="0"/>
              <a:t>Votre ordinateur a ses limites.</a:t>
            </a:r>
            <a:endParaRPr lang="en-US" sz="1350" dirty="0"/>
          </a:p>
        </p:txBody>
      </p:sp>
      <p:sp>
        <p:nvSpPr>
          <p:cNvPr id="8" name="raison-1"/>
          <p:cNvSpPr/>
          <p:nvPr/>
        </p:nvSpPr>
        <p:spPr>
          <a:xfrm>
            <a:off x="4270248" y="4041648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6280" y="42245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07A3F"/>
                </a:solidFill>
              </a:rPr>
              <a:t>Le temps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459028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fr-SN" sz="1400" dirty="0"/>
              <a:t>Trois minutes pour appeler un modèle. Une journée pour le faire fonctionner sur sa propre machine.</a:t>
            </a:r>
            <a:endParaRPr lang="en-US" sz="1350" dirty="0"/>
          </a:p>
        </p:txBody>
      </p:sp>
      <p:sp>
        <p:nvSpPr>
          <p:cNvPr id="11" name="raison-2"/>
          <p:cNvSpPr/>
          <p:nvPr/>
        </p:nvSpPr>
        <p:spPr>
          <a:xfrm>
            <a:off x="7973568" y="4041648"/>
            <a:ext cx="34290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0" y="42245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</a:rPr>
              <a:t>Le coût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4590288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3659"/>
                </a:solidFill>
              </a:rPr>
              <a:t>Groq offre un quota gratuit, sans carte </a:t>
            </a:r>
            <a:r>
              <a:rPr lang="en-US" sz="1350" dirty="0" err="1">
                <a:solidFill>
                  <a:srgbClr val="3C3659"/>
                </a:solidFill>
              </a:rPr>
              <a:t>bancaire</a:t>
            </a:r>
            <a:r>
              <a:rPr lang="en-US" sz="1350" dirty="0">
                <a:solidFill>
                  <a:srgbClr val="3C3659"/>
                </a:solidFill>
              </a:rPr>
              <a:t>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07A3F"/>
                </a:solidFill>
              </a:rPr>
              <a:t>SEPT MINUTES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24912"/>
            <a:ext cx="11027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</a:t>
            </a: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qu’il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faut savoir avant de coder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0"/>
            <a:ext cx="9656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C8EC"/>
                </a:solidFill>
              </a:rPr>
              <a:t>D'où vient un LLM, ce qu'il est, et les deux mots (</a:t>
            </a:r>
            <a:r>
              <a:rPr lang="en-US" sz="1700" dirty="0" err="1">
                <a:solidFill>
                  <a:srgbClr val="CFC8EC"/>
                </a:solidFill>
              </a:rPr>
              <a:t>Poids</a:t>
            </a:r>
            <a:r>
              <a:rPr lang="en-US" sz="1700" dirty="0">
                <a:solidFill>
                  <a:srgbClr val="CFC8EC"/>
                </a:solidFill>
              </a:rPr>
              <a:t> et Token) qu'il faut comprendre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D'où vient un LLM ?</a:t>
            </a:r>
            <a:endParaRPr lang="en-US" sz="3200" dirty="0"/>
          </a:p>
        </p:txBody>
      </p:sp>
      <p:sp>
        <p:nvSpPr>
          <p:cNvPr id="3" name="chapo"/>
          <p:cNvSpPr txBox="1"/>
          <p:nvPr/>
        </p:nvSpPr>
        <p:spPr>
          <a:xfrm>
            <a:off x="566928" y="1188720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chemeClr val="tx1"/>
                </a:solidFill>
              </a:rPr>
              <a:t>Avant de définir la chose, voyons d'où elle sort. Soixante ans de tentatives.</a:t>
            </a:r>
            <a:endParaRPr lang="en-US" sz="1550" dirty="0"/>
          </a:p>
        </p:txBody>
      </p:sp>
      <p:sp>
        <p:nvSpPr>
          <p:cNvPr id="4" name="cadre-lignee"/>
          <p:cNvSpPr/>
          <p:nvPr/>
        </p:nvSpPr>
        <p:spPr>
          <a:xfrm>
            <a:off x="566928" y="1517904"/>
            <a:ext cx="11027664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pic>
        <p:nvPicPr>
          <p:cNvPr id="5" name="fig-lignee" descr="/home/claude/talk/fig_lign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91056"/>
            <a:ext cx="10808208" cy="2880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quoi ressemble un LLM, à l'intérieur</a:t>
            </a:r>
            <a:endParaRPr lang="en-US" sz="3200" dirty="0"/>
          </a:p>
        </p:txBody>
      </p:sp>
      <p:sp>
        <p:nvSpPr>
          <p:cNvPr id="3" name="chapo"/>
          <p:cNvSpPr txBox="1"/>
          <p:nvPr/>
        </p:nvSpPr>
        <p:spPr>
          <a:xfrm>
            <a:off x="566928" y="1188720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chemeClr val="tx1"/>
                </a:solidFill>
              </a:rPr>
              <a:t>Le Transformer de 2017 avait deux piles. Un LLM n'en garde qu'une, et la répète.</a:t>
            </a:r>
            <a:endParaRPr lang="en-US" sz="1550" dirty="0"/>
          </a:p>
        </p:txBody>
      </p:sp>
      <p:sp>
        <p:nvSpPr>
          <p:cNvPr id="4" name="cadre-archi"/>
          <p:cNvSpPr/>
          <p:nvPr/>
        </p:nvSpPr>
        <p:spPr>
          <a:xfrm>
            <a:off x="566928" y="1517904"/>
            <a:ext cx="5943600" cy="3813048"/>
          </a:xfrm>
          <a:prstGeom prst="roundRect">
            <a:avLst>
              <a:gd name="adj" fmla="val 2398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pic>
        <p:nvPicPr>
          <p:cNvPr id="5" name="fig-archi" descr="/home/claude/talk/illus_l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91056"/>
            <a:ext cx="5760720" cy="3666744"/>
          </a:xfrm>
          <a:prstGeom prst="rect">
            <a:avLst/>
          </a:prstGeom>
        </p:spPr>
      </p:pic>
      <p:sp>
        <p:nvSpPr>
          <p:cNvPr id="6" name="lect-0"/>
          <p:cNvSpPr/>
          <p:nvPr/>
        </p:nvSpPr>
        <p:spPr>
          <a:xfrm>
            <a:off x="6675120" y="1517904"/>
            <a:ext cx="491947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12864" y="16642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5CA5"/>
                </a:solidFill>
              </a:rPr>
              <a:t>On ne garde que le décodeur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912864" y="1993392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SN" sz="1200" dirty="0"/>
              <a:t>On abandonne l’encodeur : le décodeur suffit pour générer du texte, un token après l’autre.</a:t>
            </a:r>
          </a:p>
        </p:txBody>
      </p:sp>
      <p:sp>
        <p:nvSpPr>
          <p:cNvPr id="9" name="lect-1"/>
          <p:cNvSpPr/>
          <p:nvPr/>
        </p:nvSpPr>
        <p:spPr>
          <a:xfrm>
            <a:off x="6675120" y="2825496"/>
            <a:ext cx="4919472" cy="1207008"/>
          </a:xfrm>
          <a:prstGeom prst="roundRect">
            <a:avLst>
              <a:gd name="adj" fmla="val 7576"/>
            </a:avLst>
          </a:prstGeom>
          <a:solidFill>
            <a:srgbClr val="F4F2FA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12864" y="29718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SN" sz="1600" dirty="0">
                <a:solidFill>
                  <a:schemeClr val="accent2"/>
                </a:solidFill>
              </a:rPr>
              <a:t>Le même bloc, répété à grande échelle</a:t>
            </a:r>
            <a:endParaRPr lang="en-US" sz="1500" dirty="0">
              <a:solidFill>
                <a:schemeClr val="accent2"/>
              </a:solidFill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912864" y="3300984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fr-SN" sz="1200" dirty="0"/>
              <a:t>6 couches dans le Transformer original, des dizaines dans les LLM modernes. Le principe reste le même : c’est l’échelle qui change.</a:t>
            </a:r>
            <a:endParaRPr lang="en-US" sz="1200" dirty="0"/>
          </a:p>
        </p:txBody>
      </p:sp>
      <p:sp>
        <p:nvSpPr>
          <p:cNvPr id="12" name="lect-2"/>
          <p:cNvSpPr/>
          <p:nvPr/>
        </p:nvSpPr>
        <p:spPr>
          <a:xfrm>
            <a:off x="6675120" y="4133088"/>
            <a:ext cx="4919472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12864" y="4279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A3F"/>
                </a:solidFill>
              </a:rPr>
              <a:t>L'attention est masquée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912864" y="460857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fr-SN" sz="1200" dirty="0"/>
              <a:t>Chaque token tient compte des précédents, jamais des suivants : le modèle doit prédire la suite, pas la lire à l’avance.</a:t>
            </a:r>
            <a:endParaRPr lang="en-US" sz="1200" dirty="0"/>
          </a:p>
        </p:txBody>
      </p:sp>
      <p:sp>
        <p:nvSpPr>
          <p:cNvPr id="15" name="banniere"/>
          <p:cNvSpPr/>
          <p:nvPr/>
        </p:nvSpPr>
        <p:spPr>
          <a:xfrm>
            <a:off x="566928" y="5468112"/>
            <a:ext cx="11027664" cy="621792"/>
          </a:xfrm>
          <a:prstGeom prst="roundRect">
            <a:avLst>
              <a:gd name="adj" fmla="val 14706"/>
            </a:avLst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2688" y="5468112"/>
            <a:ext cx="10296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C95D"/>
                </a:solidFill>
              </a:rPr>
              <a:t>Tout tient dans la boucle verte : </a:t>
            </a:r>
            <a:r>
              <a:rPr lang="en-US" sz="1500" dirty="0">
                <a:solidFill>
                  <a:srgbClr val="FFFFFF"/>
                </a:solidFill>
              </a:rPr>
              <a:t>un token sort, il est recollé au prompt, et le calcul repart du bas. Jusqu'au jeton d'arrêt.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deux mots à comprendre : poids et tokens</a:t>
            </a:r>
            <a:endParaRPr lang="en-US" sz="3200" dirty="0"/>
          </a:p>
        </p:txBody>
      </p:sp>
      <p:sp>
        <p:nvSpPr>
          <p:cNvPr id="3" name="chapo"/>
          <p:cNvSpPr txBox="1"/>
          <p:nvPr/>
        </p:nvSpPr>
        <p:spPr>
          <a:xfrm>
            <a:off x="566928" y="1188720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chemeClr val="tx1"/>
                </a:solidFill>
              </a:rPr>
              <a:t>Ce sont les seuls termes techniques dont vous aurez besoin ce week-end.</a:t>
            </a:r>
            <a:endParaRPr lang="en-US" sz="1550" dirty="0"/>
          </a:p>
        </p:txBody>
      </p:sp>
      <p:sp>
        <p:nvSpPr>
          <p:cNvPr id="4" name="def-0"/>
          <p:cNvSpPr/>
          <p:nvPr/>
        </p:nvSpPr>
        <p:spPr>
          <a:xfrm>
            <a:off x="566928" y="1554480"/>
            <a:ext cx="5349240" cy="4078224"/>
          </a:xfrm>
          <a:prstGeom prst="roundRect">
            <a:avLst>
              <a:gd name="adj" fmla="val 2242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5" name="def-t-0"/>
          <p:cNvSpPr/>
          <p:nvPr/>
        </p:nvSpPr>
        <p:spPr>
          <a:xfrm>
            <a:off x="822960" y="1737360"/>
            <a:ext cx="4837176" cy="420624"/>
          </a:xfrm>
          <a:prstGeom prst="roundRect">
            <a:avLst>
              <a:gd name="adj" fmla="val 15217"/>
            </a:avLst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4837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Les poids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6B5CA5"/>
                </a:solidFill>
              </a:rPr>
              <a:t>Ce que c'est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96312"/>
            <a:ext cx="4837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C3659"/>
                </a:solidFill>
              </a:rPr>
              <a:t>Des milliards de nombres rangés en matrices, dans un gros fichier.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0779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6B5CA5"/>
                </a:solidFill>
              </a:rPr>
              <a:t>À quoi ça sert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18104"/>
            <a:ext cx="4837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C3659"/>
                </a:solidFill>
              </a:rPr>
              <a:t>C'est la seule mémoire du modèle. Tout ce qu'il a appris est là.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529584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6B5CA5"/>
                </a:solidFill>
              </a:rPr>
              <a:t>Ordre de grandeur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39896"/>
            <a:ext cx="4837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C3659"/>
                </a:solidFill>
              </a:rPr>
              <a:t>gpt-oss-20b : 21 milliards de poids, environ 16 Go de fichier.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151376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6B5CA5"/>
                </a:solidFill>
              </a:rPr>
              <a:t>Ce que ce n'est pas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361688"/>
            <a:ext cx="4837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C3659"/>
                </a:solidFill>
              </a:rPr>
              <a:t>Pas une base de données : on ne peut pas y chercher une phrase.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773168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6B5CA5"/>
                </a:solidFill>
              </a:rPr>
              <a:t>À retenir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983480"/>
            <a:ext cx="4837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C3659"/>
                </a:solidFill>
              </a:rPr>
              <a:t>Figés après l'entraînement. Le modèle n'apprend rien de vos questions.</a:t>
            </a:r>
            <a:endParaRPr lang="en-US" sz="1250" dirty="0"/>
          </a:p>
        </p:txBody>
      </p:sp>
      <p:sp>
        <p:nvSpPr>
          <p:cNvPr id="17" name="def-1"/>
          <p:cNvSpPr/>
          <p:nvPr/>
        </p:nvSpPr>
        <p:spPr>
          <a:xfrm>
            <a:off x="6190488" y="1554480"/>
            <a:ext cx="5349240" cy="4078224"/>
          </a:xfrm>
          <a:prstGeom prst="roundRect">
            <a:avLst>
              <a:gd name="adj" fmla="val 2242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8" name="def-t-1"/>
          <p:cNvSpPr/>
          <p:nvPr/>
        </p:nvSpPr>
        <p:spPr>
          <a:xfrm>
            <a:off x="6446520" y="1737360"/>
            <a:ext cx="4837176" cy="420624"/>
          </a:xfrm>
          <a:prstGeom prst="roundRect">
            <a:avLst>
              <a:gd name="adj" fmla="val 1521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1737360"/>
            <a:ext cx="4837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Les tokens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286000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2A9D8F"/>
                </a:solidFill>
              </a:rPr>
              <a:t>Ce que c'est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496312"/>
            <a:ext cx="4837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C3659"/>
                </a:solidFill>
              </a:rPr>
              <a:t>Des fragments de mots, pas des mots. « Libreville » peut faire 3 tokens.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907792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2A9D8F"/>
                </a:solidFill>
              </a:rPr>
              <a:t>Un repère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118104"/>
            <a:ext cx="4837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C3659"/>
                </a:solidFill>
              </a:rPr>
              <a:t>En français, 1 token ≈ 3 à 4 caractères. Une page ≈ 500 tokens.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3529584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2A9D8F"/>
                </a:solidFill>
              </a:rPr>
              <a:t>À quoi ça sert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3739896"/>
            <a:ext cx="4837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C3659"/>
                </a:solidFill>
              </a:rPr>
              <a:t>L'unité de compte des API et ce que vous paierez le jour où vous passerez en production.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4361688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2A9D8F"/>
                </a:solidFill>
              </a:rPr>
              <a:t>Dans les deux sens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46520" y="4572000"/>
            <a:ext cx="4837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C3659"/>
                </a:solidFill>
              </a:rPr>
              <a:t>Tokens d'entrée, </a:t>
            </a:r>
            <a:r>
              <a:rPr lang="en-US" sz="1250" dirty="0" err="1">
                <a:solidFill>
                  <a:srgbClr val="3C3659"/>
                </a:solidFill>
              </a:rPr>
              <a:t>votre</a:t>
            </a:r>
            <a:r>
              <a:rPr lang="en-US" sz="1250" dirty="0">
                <a:solidFill>
                  <a:srgbClr val="3C3659"/>
                </a:solidFill>
              </a:rPr>
              <a:t> prompt et tokens de sortie, la réponse.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4983480"/>
            <a:ext cx="4837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" dirty="0">
                <a:solidFill>
                  <a:srgbClr val="2A9D8F"/>
                </a:solidFill>
              </a:rPr>
              <a:t>À retenir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5193792"/>
            <a:ext cx="4837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C3659"/>
                </a:solidFill>
              </a:rPr>
              <a:t>Un document trop long ne passe pas. C'est l'erreur 413.</a:t>
            </a:r>
            <a:endParaRPr lang="en-US" sz="1250" dirty="0"/>
          </a:p>
        </p:txBody>
      </p:sp>
      <p:sp>
        <p:nvSpPr>
          <p:cNvPr id="30" name="banniere"/>
          <p:cNvSpPr/>
          <p:nvPr/>
        </p:nvSpPr>
        <p:spPr>
          <a:xfrm>
            <a:off x="566928" y="5724144"/>
            <a:ext cx="11027664" cy="512064"/>
          </a:xfrm>
          <a:prstGeom prst="roundRect">
            <a:avLst>
              <a:gd name="adj" fmla="val 17857"/>
            </a:avLst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2688" y="5724144"/>
            <a:ext cx="10296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Les poids, c'est ce que le modèle sait. Les tokens, c'est ce que vous payez. </a:t>
            </a:r>
            <a:r>
              <a:rPr lang="en-US" sz="1400" b="1" dirty="0">
                <a:solidFill>
                  <a:srgbClr val="F4C95D"/>
                </a:solidFill>
              </a:rPr>
              <a:t>Tout le reste est du détail.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ça donne, concrètement</a:t>
            </a:r>
            <a:endParaRPr lang="en-US" sz="3200" dirty="0"/>
          </a:p>
        </p:txBody>
      </p:sp>
      <p:sp>
        <p:nvSpPr>
          <p:cNvPr id="3" name="chapo"/>
          <p:cNvSpPr txBox="1"/>
          <p:nvPr/>
        </p:nvSpPr>
        <p:spPr>
          <a:xfrm>
            <a:off x="566928" y="1188720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chemeClr val="tx1"/>
                </a:solidFill>
              </a:rPr>
              <a:t>Un réseau de neurones entraîné sur d'énormes quantités de texte, qui fait une seule chose : prédire le morceau suivant.</a:t>
            </a:r>
            <a:endParaRPr lang="en-US" sz="1550" dirty="0"/>
          </a:p>
        </p:txBody>
      </p:sp>
      <p:sp>
        <p:nvSpPr>
          <p:cNvPr id="4" name="cadre-token"/>
          <p:cNvSpPr/>
          <p:nvPr/>
        </p:nvSpPr>
        <p:spPr>
          <a:xfrm>
            <a:off x="566928" y="1536192"/>
            <a:ext cx="11027664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pic>
        <p:nvPicPr>
          <p:cNvPr id="5" name="fig-token" descr="/home/claude/talk/fig_to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609344"/>
            <a:ext cx="10808208" cy="46360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Open-weight, et la ligne qui change tout</a:t>
            </a:r>
            <a:endParaRPr lang="en-US" sz="3200" dirty="0"/>
          </a:p>
        </p:txBody>
      </p:sp>
      <p:sp>
        <p:nvSpPr>
          <p:cNvPr id="3" name="cadre-url"/>
          <p:cNvSpPr/>
          <p:nvPr/>
        </p:nvSpPr>
        <p:spPr>
          <a:xfrm>
            <a:off x="566928" y="1316736"/>
            <a:ext cx="11027664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pic>
        <p:nvPicPr>
          <p:cNvPr id="4" name="fig-url" descr="/home/claude/talk/fig_baseu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408176"/>
            <a:ext cx="10808208" cy="2505456"/>
          </a:xfrm>
          <a:prstGeom prst="rect">
            <a:avLst/>
          </a:prstGeom>
        </p:spPr>
      </p:pic>
      <p:sp>
        <p:nvSpPr>
          <p:cNvPr id="5" name="ow-0"/>
          <p:cNvSpPr/>
          <p:nvPr/>
        </p:nvSpPr>
        <p:spPr>
          <a:xfrm>
            <a:off x="566928" y="4206240"/>
            <a:ext cx="534924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" y="43525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</a:rPr>
              <a:t>Ce qui est publié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4718304"/>
            <a:ext cx="4800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3659"/>
                </a:solidFill>
              </a:rPr>
              <a:t>Les poids, téléchargeables. L'architecture. Une licence d'utilisation.</a:t>
            </a:r>
            <a:endParaRPr lang="en-US" sz="1350" dirty="0"/>
          </a:p>
        </p:txBody>
      </p:sp>
      <p:sp>
        <p:nvSpPr>
          <p:cNvPr id="8" name="ow-1"/>
          <p:cNvSpPr/>
          <p:nvPr/>
        </p:nvSpPr>
        <p:spPr>
          <a:xfrm>
            <a:off x="6190488" y="4206240"/>
            <a:ext cx="534924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64808" y="43525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4536"/>
                </a:solidFill>
              </a:rPr>
              <a:t>Ce qui reste fermé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464808" y="4718304"/>
            <a:ext cx="4800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3659"/>
                </a:solidFill>
              </a:rPr>
              <a:t>Les données d'entraînement, presque toujours. Les recettes d'entraînement.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« Black Box », et laquelle vous concerne</a:t>
            </a:r>
            <a:endParaRPr lang="en-US" sz="3200" dirty="0"/>
          </a:p>
        </p:txBody>
      </p:sp>
      <p:sp>
        <p:nvSpPr>
          <p:cNvPr id="3" name="cadre-boites"/>
          <p:cNvSpPr/>
          <p:nvPr/>
        </p:nvSpPr>
        <p:spPr>
          <a:xfrm>
            <a:off x="566928" y="1371600"/>
            <a:ext cx="11027664" cy="3456432"/>
          </a:xfrm>
          <a:prstGeom prst="roundRect">
            <a:avLst>
              <a:gd name="adj" fmla="val 2646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pic>
        <p:nvPicPr>
          <p:cNvPr id="4" name="fig-boites" descr="/home/claude/talk/fig_bo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463040"/>
            <a:ext cx="10808208" cy="31912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07A3F"/>
                </a:solidFill>
              </a:rPr>
              <a:t>HUIT MINUTES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24912"/>
            <a:ext cx="11027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code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0"/>
            <a:ext cx="9656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C8EC"/>
                </a:solidFill>
              </a:rPr>
              <a:t>Six étapes, en direct ouvrez vos machines si vous voulez suivre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étapes, six fichiers</a:t>
            </a:r>
            <a:endParaRPr lang="en-US" sz="3200" dirty="0"/>
          </a:p>
        </p:txBody>
      </p:sp>
      <p:sp>
        <p:nvSpPr>
          <p:cNvPr id="3" name="chapo"/>
          <p:cNvSpPr txBox="1"/>
          <p:nvPr/>
        </p:nvSpPr>
        <p:spPr>
          <a:xfrm>
            <a:off x="566928" y="1225296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Tout est dans le kit. Je tape devant vous, vous reproduisez quand vous voulez.</a:t>
            </a:r>
            <a:endParaRPr lang="en-US" sz="1600" dirty="0"/>
          </a:p>
        </p:txBody>
      </p:sp>
      <p:graphicFrame>
        <p:nvGraphicFramePr>
          <p:cNvPr id="18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27664" cy="268833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72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Fichier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Ce qu'on y apprend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Durée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config.py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La clé API dans un .env, jamais dans le code. La connexion, une seule fois.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2 min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01_premier_appel.py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Envoyer une question, lire la réponse, compter les tokens consommés.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2 min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02_lister_modeles.py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Voir les modèles accessibles — et comprendre où sont réellement les poids.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1 min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03_streaming.py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Afficher la réponse mot par mot, comme un vrai chatbot.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1 min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04_conversation.py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Le modèle n'a pas de mémoire : c'est votre code qui garde l'historique.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2 min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05_json_structure.py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Obtenir du JSON exploitable plutôt que du texte libre.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3 min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sont les poids, quand on passe par l'API ?</a:t>
            </a:r>
            <a:endParaRPr lang="en-US" sz="3200" dirty="0"/>
          </a:p>
        </p:txBody>
      </p:sp>
      <p:sp>
        <p:nvSpPr>
          <p:cNvPr id="3" name="chapo"/>
          <p:cNvSpPr txBox="1"/>
          <p:nvPr/>
        </p:nvSpPr>
        <p:spPr>
          <a:xfrm>
            <a:off x="566928" y="1188720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chemeClr val="tx1"/>
                </a:solidFill>
              </a:rPr>
              <a:t>La question qu'on se pose tous en lançant 02_lister_modeles.py.</a:t>
            </a:r>
            <a:endParaRPr lang="en-US" sz="1550" dirty="0"/>
          </a:p>
        </p:txBody>
      </p:sp>
      <p:sp>
        <p:nvSpPr>
          <p:cNvPr id="4" name="cadre-poids"/>
          <p:cNvSpPr/>
          <p:nvPr/>
        </p:nvSpPr>
        <p:spPr>
          <a:xfrm>
            <a:off x="566928" y="1517904"/>
            <a:ext cx="11027664" cy="4462272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pic>
        <p:nvPicPr>
          <p:cNvPr id="5" name="fig-poids" descr="/home/claude/talk/fig_po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591056"/>
            <a:ext cx="10808208" cy="43251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trois erreurs que vous allez rencontrer</a:t>
            </a:r>
            <a:endParaRPr lang="en-US" sz="3200" dirty="0"/>
          </a:p>
        </p:txBody>
      </p:sp>
      <p:sp>
        <p:nvSpPr>
          <p:cNvPr id="3" name="chapo"/>
          <p:cNvSpPr txBox="1"/>
          <p:nvPr/>
        </p:nvSpPr>
        <p:spPr>
          <a:xfrm>
            <a:off x="566928" y="1225296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Elles ne sont pas des bugs. Chacune vous apprend quelque chose sur l'API.</a:t>
            </a:r>
            <a:endParaRPr lang="en-US" sz="1600" dirty="0"/>
          </a:p>
        </p:txBody>
      </p:sp>
      <p:sp>
        <p:nvSpPr>
          <p:cNvPr id="4" name="err-0"/>
          <p:cNvSpPr/>
          <p:nvPr/>
        </p:nvSpPr>
        <p:spPr>
          <a:xfrm>
            <a:off x="566928" y="1700784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5" name="err-ic-0"/>
          <p:cNvSpPr/>
          <p:nvPr/>
        </p:nvSpPr>
        <p:spPr>
          <a:xfrm>
            <a:off x="841248" y="1956816"/>
            <a:ext cx="512064" cy="512064"/>
          </a:xfrm>
          <a:prstGeom prst="ellipse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pic>
        <p:nvPicPr>
          <p:cNvPr id="6" name="Image 0" descr="/home/claude/talk/icons/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85" y="2089953"/>
            <a:ext cx="245791" cy="24579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17904" y="19568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44536"/>
                </a:solidFill>
              </a:rPr>
              <a:t>401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596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7E76A8"/>
                </a:solidFill>
              </a:rPr>
              <a:t>Unauthorized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3659"/>
                </a:solidFill>
              </a:rPr>
              <a:t>Votre clé est absente, mal copiée, ou encore dans .env.example au lieu de .env.</a:t>
            </a:r>
            <a:endParaRPr lang="en-US" sz="1350" dirty="0"/>
          </a:p>
        </p:txBody>
      </p:sp>
      <p:sp>
        <p:nvSpPr>
          <p:cNvPr id="10" name="err-fix-0"/>
          <p:cNvSpPr/>
          <p:nvPr/>
        </p:nvSpPr>
        <p:spPr>
          <a:xfrm>
            <a:off x="841248" y="411480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4F2FA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87552" y="4261104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44536"/>
                </a:solidFill>
              </a:rPr>
              <a:t>Vérifiez le fichier, puis régénérez la clé.</a:t>
            </a:r>
            <a:endParaRPr lang="en-US" sz="1300" dirty="0"/>
          </a:p>
        </p:txBody>
      </p:sp>
      <p:sp>
        <p:nvSpPr>
          <p:cNvPr id="12" name="err-1"/>
          <p:cNvSpPr/>
          <p:nvPr/>
        </p:nvSpPr>
        <p:spPr>
          <a:xfrm>
            <a:off x="4270248" y="1700784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3" name="err-ic-1"/>
          <p:cNvSpPr/>
          <p:nvPr/>
        </p:nvSpPr>
        <p:spPr>
          <a:xfrm>
            <a:off x="4544568" y="1956816"/>
            <a:ext cx="512064" cy="512064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pic>
        <p:nvPicPr>
          <p:cNvPr id="14" name="Image 1" descr="/home/claude/talk/icons/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705" y="2089953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221224" y="19568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7A3F"/>
                </a:solidFill>
              </a:rPr>
              <a:t>429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4544568" y="2596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7E76A8"/>
                </a:solidFill>
              </a:rPr>
              <a:t>Too Many Requests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4544568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3659"/>
                </a:solidFill>
              </a:rPr>
              <a:t>Vous avez dépassé le quota gratuit : environ 30 requêtes par minute.</a:t>
            </a:r>
            <a:endParaRPr lang="en-US" sz="1350" dirty="0"/>
          </a:p>
        </p:txBody>
      </p:sp>
      <p:sp>
        <p:nvSpPr>
          <p:cNvPr id="18" name="err-fix-1"/>
          <p:cNvSpPr/>
          <p:nvPr/>
        </p:nvSpPr>
        <p:spPr>
          <a:xfrm>
            <a:off x="4544568" y="411480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4F2FA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690872" y="4261104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07A3F"/>
                </a:solidFill>
              </a:rPr>
              <a:t>Attendez une minute. N'appelez jamais l'API dans une boucle.</a:t>
            </a:r>
            <a:endParaRPr lang="en-US" sz="1300" dirty="0"/>
          </a:p>
        </p:txBody>
      </p:sp>
      <p:sp>
        <p:nvSpPr>
          <p:cNvPr id="20" name="err-2"/>
          <p:cNvSpPr/>
          <p:nvPr/>
        </p:nvSpPr>
        <p:spPr>
          <a:xfrm>
            <a:off x="7973568" y="1700784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21" name="err-ic-2"/>
          <p:cNvSpPr/>
          <p:nvPr/>
        </p:nvSpPr>
        <p:spPr>
          <a:xfrm>
            <a:off x="8247888" y="1956816"/>
            <a:ext cx="512064" cy="512064"/>
          </a:xfrm>
          <a:prstGeom prst="ellipse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pic>
        <p:nvPicPr>
          <p:cNvPr id="22" name="Image 2" descr="/home/claude/talk/icons/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025" y="2089953"/>
            <a:ext cx="245791" cy="245791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924544" y="19568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B5CA5"/>
                </a:solidFill>
              </a:rPr>
              <a:t>413</a:t>
            </a:r>
            <a:endParaRPr lang="en-US" sz="2600" dirty="0"/>
          </a:p>
        </p:txBody>
      </p:sp>
      <p:sp>
        <p:nvSpPr>
          <p:cNvPr id="24" name="Text 19"/>
          <p:cNvSpPr txBox="1"/>
          <p:nvPr/>
        </p:nvSpPr>
        <p:spPr>
          <a:xfrm>
            <a:off x="8247888" y="2596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7E76A8"/>
                </a:solidFill>
              </a:rPr>
              <a:t>Request Too Large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8247888" y="2926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C3659"/>
                </a:solidFill>
              </a:rPr>
              <a:t>Votre document dépasse la limite de tokens par requête.</a:t>
            </a:r>
            <a:endParaRPr lang="en-US" sz="1350" dirty="0"/>
          </a:p>
        </p:txBody>
      </p:sp>
      <p:sp>
        <p:nvSpPr>
          <p:cNvPr id="26" name="err-fix-2"/>
          <p:cNvSpPr/>
          <p:nvPr/>
        </p:nvSpPr>
        <p:spPr>
          <a:xfrm>
            <a:off x="8247888" y="411480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4F2FA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394192" y="4261104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5CA5"/>
                </a:solidFill>
              </a:rPr>
              <a:t>Raccourcissez le document, ou n'en envoyez qu'un extrait.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six scripts à l'application</a:t>
            </a:r>
            <a:endParaRPr lang="en-US" sz="3200" dirty="0"/>
          </a:p>
        </p:txBody>
      </p:sp>
      <p:sp>
        <p:nvSpPr>
          <p:cNvPr id="3" name="chapo"/>
          <p:cNvSpPr txBox="1"/>
          <p:nvPr/>
        </p:nvSpPr>
        <p:spPr>
          <a:xfrm>
            <a:off x="566928" y="1243584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Vous avez écrit tous les morceaux. Il ne reste qu'à les mettre bout à bout.</a:t>
            </a:r>
            <a:endParaRPr lang="en-US" sz="1600" dirty="0"/>
          </a:p>
        </p:txBody>
      </p:sp>
      <p:sp>
        <p:nvSpPr>
          <p:cNvPr id="4" name="cadre-build"/>
          <p:cNvSpPr/>
          <p:nvPr/>
        </p:nvSpPr>
        <p:spPr>
          <a:xfrm>
            <a:off x="566928" y="1609344"/>
            <a:ext cx="11027664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pic>
        <p:nvPicPr>
          <p:cNvPr id="5" name="fig-build" descr="/home/claude/talk/fig_app_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682496"/>
            <a:ext cx="10808208" cy="3730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07A3F"/>
                </a:solidFill>
              </a:rPr>
              <a:t>SIX MINUTES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24912"/>
            <a:ext cx="11027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maintenant, on lui donne le document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40480"/>
            <a:ext cx="9656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C8EC"/>
                </a:solidFill>
              </a:rPr>
              <a:t>Les cinq pages du Code du travail </a:t>
            </a:r>
            <a:r>
              <a:rPr lang="en-US" sz="1700" dirty="0" err="1">
                <a:solidFill>
                  <a:srgbClr val="CFC8EC"/>
                </a:solidFill>
              </a:rPr>
              <a:t>gabonais</a:t>
            </a:r>
            <a:r>
              <a:rPr lang="en-US" sz="1700" dirty="0">
                <a:solidFill>
                  <a:srgbClr val="CFC8EC"/>
                </a:solidFill>
              </a:rPr>
              <a:t> et deux questions pièges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questions, dont deux pièges</a:t>
            </a:r>
            <a:endParaRPr lang="en-US" sz="3200" dirty="0"/>
          </a:p>
        </p:txBody>
      </p:sp>
      <p:sp>
        <p:nvSpPr>
          <p:cNvPr id="3" name="chapo"/>
          <p:cNvSpPr txBox="1"/>
          <p:nvPr/>
        </p:nvSpPr>
        <p:spPr>
          <a:xfrm>
            <a:off x="566928" y="1225296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Les quatre premières montrent ce qu'il sait faire. Les deux dernières, ce qui compte vraiment.</a:t>
            </a:r>
            <a:endParaRPr lang="en-US" sz="1600" dirty="0"/>
          </a:p>
        </p:txBody>
      </p:sp>
      <p:graphicFrame>
        <p:nvGraphicFramePr>
          <p:cNvPr id="23" name="table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27664" cy="2688336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4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La question posée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Ce qu'on observe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Combien de temps dure une période d'essai ?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Il retrouve la disposition et cite l'article 49.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Un employeur peut-il rompre un CDD avant terme ?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Il garde la nuance : seulement dans des cas précis.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Quelle indemnité après 5 ans d'ancienneté ?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Il applique la formule et montre son calcul.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Quelles mentions obligatoires dans un contrat ?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Il combine plusieurs articles.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Quel est le montant du SMIG ?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PIÈGE — le document ne le donne pas.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Quel préavis pour une grève ?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C3659"/>
                          </a:solidFill>
                        </a:rPr>
                        <a:t>PIÈGE — absent de notre extrait.</a:t>
                      </a:r>
                      <a:endParaRPr lang="en-US" sz="1300" dirty="0"/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banniere"/>
          <p:cNvSpPr/>
          <p:nvPr/>
        </p:nvSpPr>
        <p:spPr>
          <a:xfrm>
            <a:off x="566928" y="5669280"/>
            <a:ext cx="11027664" cy="585216"/>
          </a:xfrm>
          <a:prstGeom prst="roundRect">
            <a:avLst>
              <a:gd name="adj" fmla="val 15625"/>
            </a:avLst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32688" y="5669280"/>
            <a:ext cx="10296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Une réponse chiffrée aux questions 5 ou 6 serait une hallucination. </a:t>
            </a:r>
            <a:r>
              <a:rPr lang="en-US" sz="1500" b="1" dirty="0">
                <a:solidFill>
                  <a:srgbClr val="F4C95D"/>
                </a:solidFill>
              </a:rPr>
              <a:t>« Je ne sais pas » est la bonne réponse.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ces six questions viennent de prouver</a:t>
            </a:r>
            <a:endParaRPr lang="en-US" sz="3200" dirty="0"/>
          </a:p>
        </p:txBody>
      </p:sp>
      <p:sp>
        <p:nvSpPr>
          <p:cNvPr id="3" name="preuve-0"/>
          <p:cNvSpPr/>
          <p:nvPr/>
        </p:nvSpPr>
        <p:spPr>
          <a:xfrm>
            <a:off x="566928" y="1591056"/>
            <a:ext cx="1102766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4" name="preuve-dot-0"/>
          <p:cNvSpPr/>
          <p:nvPr/>
        </p:nvSpPr>
        <p:spPr>
          <a:xfrm>
            <a:off x="877824" y="1947672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7824" y="19476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72768" y="179222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Même modèle, même question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2212848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C3659"/>
                </a:solidFill>
              </a:rPr>
              <a:t>Au script 1, il répondait de mémoire, sans source. Ici, il cite l'article 49. Seul le document a changé.</a:t>
            </a:r>
            <a:endParaRPr lang="en-US" sz="1400" dirty="0"/>
          </a:p>
        </p:txBody>
      </p:sp>
      <p:sp>
        <p:nvSpPr>
          <p:cNvPr id="8" name="preuve-1"/>
          <p:cNvSpPr/>
          <p:nvPr/>
        </p:nvSpPr>
        <p:spPr>
          <a:xfrm>
            <a:off x="566928" y="2926080"/>
            <a:ext cx="1102766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9" name="preuve-dot-1"/>
          <p:cNvSpPr/>
          <p:nvPr/>
        </p:nvSpPr>
        <p:spPr>
          <a:xfrm>
            <a:off x="877824" y="3282696"/>
            <a:ext cx="475488" cy="475488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" y="32826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12724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consigne fait le travail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3547872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C3659"/>
                </a:solidFill>
              </a:rPr>
              <a:t>On lui impose un document, on exige les citations, on autorise le « je ne sais pas ». Trois lignes de prompt.</a:t>
            </a:r>
            <a:endParaRPr lang="en-US" sz="1400" dirty="0"/>
          </a:p>
        </p:txBody>
      </p:sp>
      <p:sp>
        <p:nvSpPr>
          <p:cNvPr id="13" name="preuve-2"/>
          <p:cNvSpPr/>
          <p:nvPr/>
        </p:nvSpPr>
        <p:spPr>
          <a:xfrm>
            <a:off x="566928" y="4261104"/>
            <a:ext cx="11027664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4" name="preuve-dot-2"/>
          <p:cNvSpPr/>
          <p:nvPr/>
        </p:nvSpPr>
        <p:spPr>
          <a:xfrm>
            <a:off x="877824" y="4617720"/>
            <a:ext cx="475488" cy="475488"/>
          </a:xfrm>
          <a:prstGeom prst="ellipse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7824" y="4617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572768" y="446227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Ce n'est pas de la magie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882896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C3659"/>
                </a:solidFill>
              </a:rPr>
              <a:t>Il n'a rien compris au droit du travail. Il a lu un texte et prédit la suite la plus plausible.</a:t>
            </a:r>
            <a:endParaRPr lang="en-US" sz="1400" dirty="0"/>
          </a:p>
        </p:txBody>
      </p:sp>
      <p:sp>
        <p:nvSpPr>
          <p:cNvPr id="18" name="banniere"/>
          <p:cNvSpPr/>
          <p:nvPr/>
        </p:nvSpPr>
        <p:spPr>
          <a:xfrm>
            <a:off x="566928" y="5614416"/>
            <a:ext cx="11027664" cy="640080"/>
          </a:xfrm>
          <a:prstGeom prst="roundRect">
            <a:avLst>
              <a:gd name="adj" fmla="val 14286"/>
            </a:avLst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" y="5614416"/>
            <a:ext cx="10296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C95D"/>
                </a:solidFill>
              </a:rPr>
              <a:t>Voilà la boîte noire numéro trois ouverte : </a:t>
            </a:r>
            <a:r>
              <a:rPr lang="en-US" sz="1500" dirty="0">
                <a:solidFill>
                  <a:srgbClr val="FFFFFF"/>
                </a:solidFill>
              </a:rPr>
              <a:t>l'utilisateur sait d'où vient la réponse, et il sait quand il n'y en a pas.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checklist avant de coder</a:t>
            </a:r>
            <a:endParaRPr lang="en-US" sz="3200" dirty="0"/>
          </a:p>
        </p:txBody>
      </p:sp>
      <p:sp>
        <p:nvSpPr>
          <p:cNvPr id="3" name="chk-0"/>
          <p:cNvSpPr/>
          <p:nvPr/>
        </p:nvSpPr>
        <p:spPr>
          <a:xfrm>
            <a:off x="566928" y="1517904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4" name="chk-dot-0"/>
          <p:cNvSpPr/>
          <p:nvPr/>
        </p:nvSpPr>
        <p:spPr>
          <a:xfrm>
            <a:off x="822960" y="1700784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16736" y="16824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problème, pas un modèle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3969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C3659"/>
                </a:solidFill>
              </a:rPr>
              <a:t>Commencez par : quelle question concrète, et de quelles informations ai-je besoin ?</a:t>
            </a:r>
            <a:endParaRPr lang="en-US" sz="1300" dirty="0"/>
          </a:p>
        </p:txBody>
      </p:sp>
      <p:sp>
        <p:nvSpPr>
          <p:cNvPr id="8" name="chk-1"/>
          <p:cNvSpPr/>
          <p:nvPr/>
        </p:nvSpPr>
        <p:spPr>
          <a:xfrm>
            <a:off x="6190488" y="1517904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9" name="chk-dot-1"/>
          <p:cNvSpPr/>
          <p:nvPr/>
        </p:nvSpPr>
        <p:spPr>
          <a:xfrm>
            <a:off x="6446520" y="1700784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40296" y="16824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Une source imposée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13969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C3659"/>
                </a:solidFill>
              </a:rPr>
              <a:t>Si votre app répond sans document, vous avez refermé la boîte numéro trois.</a:t>
            </a:r>
            <a:endParaRPr lang="en-US" sz="1300" dirty="0"/>
          </a:p>
        </p:txBody>
      </p:sp>
      <p:sp>
        <p:nvSpPr>
          <p:cNvPr id="13" name="chk-2"/>
          <p:cNvSpPr/>
          <p:nvPr/>
        </p:nvSpPr>
        <p:spPr>
          <a:xfrm>
            <a:off x="566928" y="2889504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4F2FA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4" name="chk-dot-2"/>
          <p:cNvSpPr/>
          <p:nvPr/>
        </p:nvSpPr>
        <p:spPr>
          <a:xfrm>
            <a:off x="822960" y="3072384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16736" y="30540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clé dans .env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51129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C3659"/>
                </a:solidFill>
              </a:rPr>
              <a:t>Jamais dans le code, jamais sur GitHub. Régénérez-la après une démo publique.</a:t>
            </a:r>
            <a:endParaRPr lang="en-US" sz="1300" dirty="0"/>
          </a:p>
        </p:txBody>
      </p:sp>
      <p:sp>
        <p:nvSpPr>
          <p:cNvPr id="18" name="chk-3"/>
          <p:cNvSpPr/>
          <p:nvPr/>
        </p:nvSpPr>
        <p:spPr>
          <a:xfrm>
            <a:off x="6190488" y="2889504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4F2FA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9" name="chk-dot-3"/>
          <p:cNvSpPr/>
          <p:nvPr/>
        </p:nvSpPr>
        <p:spPr>
          <a:xfrm>
            <a:off x="6446520" y="3072384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0296" y="30540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« je ne sais pas » autorisé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351129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C3659"/>
                </a:solidFill>
              </a:rPr>
              <a:t>Écrivez-le dans la consigne. Une app honnête vaut mieux qu'une app bavarde.</a:t>
            </a:r>
            <a:endParaRPr lang="en-US" sz="1300" dirty="0"/>
          </a:p>
        </p:txBody>
      </p:sp>
      <p:sp>
        <p:nvSpPr>
          <p:cNvPr id="23" name="chk-4"/>
          <p:cNvSpPr/>
          <p:nvPr/>
        </p:nvSpPr>
        <p:spPr>
          <a:xfrm>
            <a:off x="566928" y="4261104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24" name="chk-dot-4"/>
          <p:cNvSpPr/>
          <p:nvPr/>
        </p:nvSpPr>
        <p:spPr>
          <a:xfrm>
            <a:off x="822960" y="4443984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443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16736" y="44256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Les quotas respectés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88289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C3659"/>
                </a:solidFill>
              </a:rPr>
              <a:t>Pas d'appel API dans une boucle. Une erreur 429 pendant la soutenance, ça se voit.</a:t>
            </a:r>
            <a:endParaRPr lang="en-US" sz="1300" dirty="0"/>
          </a:p>
        </p:txBody>
      </p:sp>
      <p:sp>
        <p:nvSpPr>
          <p:cNvPr id="28" name="chk-5"/>
          <p:cNvSpPr/>
          <p:nvPr/>
        </p:nvSpPr>
        <p:spPr>
          <a:xfrm>
            <a:off x="6190488" y="4261104"/>
            <a:ext cx="534924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29" name="chk-dot-5"/>
          <p:cNvSpPr/>
          <p:nvPr/>
        </p:nvSpPr>
        <p:spPr>
          <a:xfrm>
            <a:off x="6446520" y="4443984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46520" y="44439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40296" y="44256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Pas de données réelles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4882896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C3659"/>
                </a:solidFill>
              </a:rPr>
              <a:t>Vos requêtes passent par les serveurs du fournisseur. Pas de données personnelles.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"/>
          <p:cNvSpPr txBox="1"/>
          <p:nvPr/>
        </p:nvSpPr>
        <p:spPr>
          <a:xfrm>
            <a:off x="566928" y="475488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projets, le même socle</a:t>
            </a:r>
            <a:endParaRPr lang="en-US" sz="3200" dirty="0"/>
          </a:p>
        </p:txBody>
      </p:sp>
      <p:sp>
        <p:nvSpPr>
          <p:cNvPr id="3" name="chapo"/>
          <p:cNvSpPr txBox="1"/>
          <p:nvPr/>
        </p:nvSpPr>
        <p:spPr>
          <a:xfrm>
            <a:off x="566928" y="1225296"/>
            <a:ext cx="11027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Une clé, un appel, un document : tout ce qui suit est à votre portée aujourd'hui.</a:t>
            </a:r>
            <a:endParaRPr lang="en-US" sz="1600" dirty="0"/>
          </a:p>
        </p:txBody>
      </p:sp>
      <p:sp>
        <p:nvSpPr>
          <p:cNvPr id="4" name="proj-0"/>
          <p:cNvSpPr/>
          <p:nvPr/>
        </p:nvSpPr>
        <p:spPr>
          <a:xfrm>
            <a:off x="566928" y="1828800"/>
            <a:ext cx="342900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5" name="proj-ic-0"/>
          <p:cNvSpPr/>
          <p:nvPr/>
        </p:nvSpPr>
        <p:spPr>
          <a:xfrm>
            <a:off x="822960" y="2029968"/>
            <a:ext cx="457200" cy="45720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pic>
        <p:nvPicPr>
          <p:cNvPr id="6" name="Image 0" descr="/home/claude/talk/icons/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4884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89888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Assistant documentaire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151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C3659"/>
                </a:solidFill>
              </a:rPr>
              <a:t>Un règlement, une loi, un cours.</a:t>
            </a:r>
            <a:endParaRPr lang="en-US" sz="1300" dirty="0"/>
          </a:p>
        </p:txBody>
      </p:sp>
      <p:sp>
        <p:nvSpPr>
          <p:cNvPr id="9" name="proj-1"/>
          <p:cNvSpPr/>
          <p:nvPr/>
        </p:nvSpPr>
        <p:spPr>
          <a:xfrm>
            <a:off x="4270248" y="1828800"/>
            <a:ext cx="342900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0" name="proj-ic-1"/>
          <p:cNvSpPr/>
          <p:nvPr/>
        </p:nvSpPr>
        <p:spPr>
          <a:xfrm>
            <a:off x="4526280" y="2029968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11" name="Image 1" descr="/home/claude/talk/icons/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1488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93208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Extraction structurée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6151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C3659"/>
                </a:solidFill>
              </a:rPr>
              <a:t>Du texte libre vers un tableau.</a:t>
            </a:r>
            <a:endParaRPr lang="en-US" sz="1300" dirty="0"/>
          </a:p>
        </p:txBody>
      </p:sp>
      <p:sp>
        <p:nvSpPr>
          <p:cNvPr id="14" name="proj-2"/>
          <p:cNvSpPr/>
          <p:nvPr/>
        </p:nvSpPr>
        <p:spPr>
          <a:xfrm>
            <a:off x="7973568" y="1828800"/>
            <a:ext cx="342900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15" name="proj-ic-2"/>
          <p:cNvSpPr/>
          <p:nvPr/>
        </p:nvSpPr>
        <p:spPr>
          <a:xfrm>
            <a:off x="8229600" y="2029968"/>
            <a:ext cx="457200" cy="457200"/>
          </a:xfrm>
          <a:prstGeom prst="ellipse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pic>
        <p:nvPicPr>
          <p:cNvPr id="16" name="Image 2" descr="/home/claude/talk/icons/t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14884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796528" y="202996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Classification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26151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C3659"/>
                </a:solidFill>
              </a:rPr>
              <a:t>Trier des réclamations, des avis.</a:t>
            </a:r>
            <a:endParaRPr lang="en-US" sz="1300" dirty="0"/>
          </a:p>
        </p:txBody>
      </p:sp>
      <p:sp>
        <p:nvSpPr>
          <p:cNvPr id="19" name="proj-3"/>
          <p:cNvSpPr/>
          <p:nvPr/>
        </p:nvSpPr>
        <p:spPr>
          <a:xfrm>
            <a:off x="566928" y="3566160"/>
            <a:ext cx="342900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20" name="proj-ic-3"/>
          <p:cNvSpPr/>
          <p:nvPr/>
        </p:nvSpPr>
        <p:spPr>
          <a:xfrm>
            <a:off x="822960" y="3767328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1" name="Image 3" descr="/home/claude/talk/icons/t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388620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89888" y="37673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Traduction et résumé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3525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C3659"/>
                </a:solidFill>
              </a:rPr>
              <a:t>Un rapport de 40 pages en 10 lignes.</a:t>
            </a:r>
            <a:endParaRPr lang="en-US" sz="1300" dirty="0"/>
          </a:p>
        </p:txBody>
      </p:sp>
      <p:sp>
        <p:nvSpPr>
          <p:cNvPr id="24" name="proj-4"/>
          <p:cNvSpPr/>
          <p:nvPr/>
        </p:nvSpPr>
        <p:spPr>
          <a:xfrm>
            <a:off x="4270248" y="3566160"/>
            <a:ext cx="342900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25" name="proj-ic-4"/>
          <p:cNvSpPr/>
          <p:nvPr/>
        </p:nvSpPr>
        <p:spPr>
          <a:xfrm>
            <a:off x="4526280" y="3767328"/>
            <a:ext cx="457200" cy="457200"/>
          </a:xfrm>
          <a:prstGeom prst="ellipse">
            <a:avLst/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pic>
        <p:nvPicPr>
          <p:cNvPr id="26" name="Image 4" descr="/home/claude/talk/icons/t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388620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93208" y="37673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Génération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3525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C3659"/>
                </a:solidFill>
              </a:rPr>
              <a:t>Un générateur de quiz depuis un cours.</a:t>
            </a:r>
            <a:endParaRPr lang="en-US" sz="1300" dirty="0"/>
          </a:p>
        </p:txBody>
      </p:sp>
      <p:sp>
        <p:nvSpPr>
          <p:cNvPr id="29" name="proj-5"/>
          <p:cNvSpPr/>
          <p:nvPr/>
        </p:nvSpPr>
        <p:spPr>
          <a:xfrm>
            <a:off x="7973568" y="3566160"/>
            <a:ext cx="3429000" cy="1517904"/>
          </a:xfrm>
          <a:prstGeom prst="roundRect">
            <a:avLst>
              <a:gd name="adj" fmla="val 6024"/>
            </a:avLst>
          </a:prstGeom>
          <a:solidFill>
            <a:srgbClr val="FFFFFF"/>
          </a:solidFill>
          <a:ln w="9525">
            <a:solidFill>
              <a:srgbClr val="E2DEF0"/>
            </a:solidFill>
            <a:prstDash val="solid"/>
          </a:ln>
        </p:spPr>
      </p:sp>
      <p:sp>
        <p:nvSpPr>
          <p:cNvPr id="30" name="proj-ic-5"/>
          <p:cNvSpPr/>
          <p:nvPr/>
        </p:nvSpPr>
        <p:spPr>
          <a:xfrm>
            <a:off x="8229600" y="3767328"/>
            <a:ext cx="457200" cy="457200"/>
          </a:xfrm>
          <a:prstGeom prst="ellipse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pic>
        <p:nvPicPr>
          <p:cNvPr id="31" name="Image 5" descr="/home/claude/talk/icons/t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388620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796528" y="37673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Assistant vocal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229600" y="435254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C3659"/>
                </a:solidFill>
              </a:rPr>
              <a:t>Whisper transcrit, le LLM répond.</a:t>
            </a:r>
            <a:endParaRPr lang="en-US" sz="1300" dirty="0"/>
          </a:p>
        </p:txBody>
      </p:sp>
      <p:sp>
        <p:nvSpPr>
          <p:cNvPr id="34" name="banniere"/>
          <p:cNvSpPr/>
          <p:nvPr/>
        </p:nvSpPr>
        <p:spPr>
          <a:xfrm>
            <a:off x="566928" y="5577840"/>
            <a:ext cx="11027664" cy="640080"/>
          </a:xfrm>
          <a:prstGeom prst="roundRect">
            <a:avLst>
              <a:gd name="adj" fmla="val 14286"/>
            </a:avLst>
          </a:prstGeom>
          <a:solidFill>
            <a:srgbClr val="2A1A5E"/>
          </a:solidFill>
          <a:ln w="12700">
            <a:solidFill>
              <a:srgbClr val="2A1A5E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932688" y="5577840"/>
            <a:ext cx="10296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Dans les six cas, la même question : </a:t>
            </a:r>
            <a:r>
              <a:rPr lang="en-US" sz="1500" b="1" dirty="0">
                <a:solidFill>
                  <a:srgbClr val="F4C95D"/>
                </a:solidFill>
              </a:rPr>
              <a:t>sur quel document le modèle s'appuie-t-il ?</a:t>
            </a:r>
            <a:endParaRPr lang="en-US" sz="15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8251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E76A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28800"/>
            <a:ext cx="7918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commencez pas par le modèle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291840"/>
            <a:ext cx="7918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C8EC"/>
                </a:solidFill>
              </a:rPr>
              <a:t>Commencez par : quel problème concret, et de quelles informations ai-je besoin ?</a:t>
            </a:r>
            <a:endParaRPr lang="en-US" sz="1800" dirty="0"/>
          </a:p>
        </p:txBody>
      </p:sp>
      <p:sp>
        <p:nvSpPr>
          <p:cNvPr id="4" name="final"/>
          <p:cNvSpPr/>
          <p:nvPr/>
        </p:nvSpPr>
        <p:spPr>
          <a:xfrm>
            <a:off x="566928" y="4526280"/>
            <a:ext cx="11027664" cy="1188720"/>
          </a:xfrm>
          <a:prstGeom prst="roundRect">
            <a:avLst>
              <a:gd name="adj" fmla="val 7692"/>
            </a:avLst>
          </a:prstGeom>
          <a:solidFill>
            <a:srgbClr val="E07A3F"/>
          </a:solidFill>
          <a:ln w="12700">
            <a:solidFill>
              <a:srgbClr val="E07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8408" y="4526280"/>
            <a:ext cx="102047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 jamais confondre une réponse convaincante avec une réponse fiable.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94360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8EC"/>
                </a:solidFill>
              </a:rPr>
              <a:t>Le kit : console.groq.com pour la clé  ·  le dépôt du hackathon pour le code  ·  Merci à toutes et à tous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0C0F61FC-B995-2BE6-6958-F716837AEEAA}"/>
              </a:ext>
            </a:extLst>
          </p:cNvPr>
          <p:cNvSpPr txBox="1"/>
          <p:nvPr/>
        </p:nvSpPr>
        <p:spPr>
          <a:xfrm>
            <a:off x="3048953" y="3244334"/>
            <a:ext cx="60979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Merci à toutes et à tous!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207420"/>
      </p:ext>
    </p:extLst>
  </p:cSld>
  <p:clrMapOvr>
    <a:masterClrMapping/>
  </p:clrMapOvr>
</p:sld>
</file>

<file path=ppt/theme/theme1.xml><?xml version="1.0" encoding="utf-8"?>
<a:theme xmlns:a="http://schemas.openxmlformats.org/drawingml/2006/main" name="Celeste">
  <a:themeElements>
    <a:clrScheme name="Celeste">
      <a:dk1>
        <a:srgbClr val="2A1A5E"/>
      </a:dk1>
      <a:lt1>
        <a:srgbClr val="FFFFFF"/>
      </a:lt1>
      <a:dk2>
        <a:srgbClr val="3C3659"/>
      </a:dk2>
      <a:lt2>
        <a:srgbClr val="F4F2FA"/>
      </a:lt2>
      <a:accent1>
        <a:srgbClr val="E07A3F"/>
      </a:accent1>
      <a:accent2>
        <a:srgbClr val="2A9D8F"/>
      </a:accent2>
      <a:accent3>
        <a:srgbClr val="C44536"/>
      </a:accent3>
      <a:accent4>
        <a:srgbClr val="6B5CA5"/>
      </a:accent4>
      <a:accent5>
        <a:srgbClr val="7E76A8"/>
      </a:accent5>
      <a:accent6>
        <a:srgbClr val="F4C95D"/>
      </a:accent6>
      <a:hlink>
        <a:srgbClr val="E07A3F"/>
      </a:hlink>
      <a:folHlink>
        <a:srgbClr val="7E76A8"/>
      </a:folHlink>
    </a:clrScheme>
    <a:fontScheme name="Celes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2226</Words>
  <Application>Microsoft Macintosh PowerPoint</Application>
  <PresentationFormat>Grand écran</PresentationFormat>
  <Paragraphs>291</Paragraphs>
  <Slides>27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3" baseType="lpstr">
      <vt:lpstr>-apple-system-body</vt:lpstr>
      <vt:lpstr>Arial</vt:lpstr>
      <vt:lpstr>Calibri</vt:lpstr>
      <vt:lpstr>Cambria</vt:lpstr>
      <vt:lpstr>Times New Roman</vt:lpstr>
      <vt:lpstr>Celeste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ANINF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Black Box</dc:title>
  <dc:subject>Integrer un LLM open-weight via API</dc:subject>
  <dc:creator>Anna Roxanne ONDO MINKO</dc:creator>
  <cp:lastModifiedBy>Microsoft Office User</cp:lastModifiedBy>
  <cp:revision>6</cp:revision>
  <dcterms:created xsi:type="dcterms:W3CDTF">2026-10-20T08:24:39Z</dcterms:created>
  <dcterms:modified xsi:type="dcterms:W3CDTF">2026-10-20T19:21:56Z</dcterms:modified>
</cp:coreProperties>
</file>